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  <p:sldId id="273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8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6A5EA-7815-462A-9BE3-CB289674CB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F34DB1-42BE-452D-ADEF-B0AF05CE9F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6E0E20-2361-4DDA-A018-467E82765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17263-7C67-4DE7-AE41-503EA13A1BB1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A17187-7785-43E7-9CFF-E168CB419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51AF45-5463-44D0-80C3-E1E538621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496F2-512F-43AF-93D4-7601BF7F6F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2890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0C41E-574A-45CC-8E4B-A2107EB04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F9A94A-D4D0-4794-A33A-759CC1BB25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3CCA65-0FAF-49D0-A76F-E63FA33D5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17263-7C67-4DE7-AE41-503EA13A1BB1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E05536-0CEA-485A-A2D1-387259469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A37625-4945-46DD-8B52-6F0C73F6F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496F2-512F-43AF-93D4-7601BF7F6F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42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96C08-21C2-46E8-9E5D-EB615DD7D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F6BB07-1E69-4B92-A0F6-AA5D6B6E77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6A26D9-35E2-43B5-A890-49051D428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17263-7C67-4DE7-AE41-503EA13A1BB1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444DDB-045B-4274-B468-5C1804C0E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FCCE08-42A4-47DF-8562-D9A4CBD7F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496F2-512F-43AF-93D4-7601BF7F6F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504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2E9CC-4602-4090-8445-58190C7C6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9EC766-6C32-490E-90D9-7CD50F67C1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84DC0C-D337-463C-AE68-9977D64703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6B0319-2CD1-4844-9F03-7FD6C0C40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17263-7C67-4DE7-AE41-503EA13A1BB1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EB8C79-48D8-4E16-9B4E-50271C963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E2886F-D033-4E71-B5EE-7781F3FF4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496F2-512F-43AF-93D4-7601BF7F6F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3360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A1042-2127-416A-A633-04348017F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AF8C67-9AB0-433A-B2CD-989360226E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F82D78-0E43-4303-AA38-AC15E976AB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B5293B-1428-4324-B011-224523A2DD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CDA073-B78C-4017-81B1-4E4032408F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EBC2BD-A28A-4862-B340-6F50A1F2B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17263-7C67-4DE7-AE41-503EA13A1BB1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593FB4-1F85-4E7D-BE1C-31EEE2BF1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F246AC-ED1A-4688-80F0-75BD2842B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496F2-512F-43AF-93D4-7601BF7F6F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201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AC85E-B92F-49D7-B377-BB1B2DC15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D60412-7FFB-4C9F-B642-748378E1D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17263-7C67-4DE7-AE41-503EA13A1BB1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37F721-6DD3-4AEC-8BA6-5F505011B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F96FDE-D385-4D84-B765-89FD01367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496F2-512F-43AF-93D4-7601BF7F6F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441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36B85A-C8A7-4501-831A-C3A3AAFA6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17263-7C67-4DE7-AE41-503EA13A1BB1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400858-7972-4F6A-B386-53AFDB8DA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AE3181-3C5E-4BA9-A915-6C747E466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496F2-512F-43AF-93D4-7601BF7F6F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7952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02E89-777E-4321-8CFC-1A5CE8B6A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CF9FB-7B4A-4BFE-8371-7D80AC36EF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1ED6D4-C48F-4AAB-8250-137757752B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ED6FA7-0602-4866-A97A-943E8BBE9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17263-7C67-4DE7-AE41-503EA13A1BB1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A0ECF6-5C2E-4CA7-8639-28C5EC1EE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8423BF-A526-44EF-BDE3-EDE74D33C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496F2-512F-43AF-93D4-7601BF7F6F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928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87D44-EB52-42DA-B19C-B5EA05A30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E080B3-574C-4CC6-B9B8-B71FFA84E0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187C37-844F-4B7B-A9FF-F769A3C0AA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B5E5ED-1E2A-4B83-9D7B-B0339ED60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17263-7C67-4DE7-AE41-503EA13A1BB1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89E4DE-89B1-4BBB-A8E0-D9F1BD6F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230E7C-C67B-4DD9-B59B-D13476378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496F2-512F-43AF-93D4-7601BF7F6F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05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7686B-2CC7-4B16-B82D-B4273F1A4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F95AFA-5C86-4E6D-9830-E48B907B00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3CBCC0-6679-438E-8BF3-5DE8C0D38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17263-7C67-4DE7-AE41-503EA13A1BB1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3C7F17-4350-4AC9-B259-AA314694F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9E2E62-CDC0-4328-A0DD-9DD1D20B0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496F2-512F-43AF-93D4-7601BF7F6F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39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B71B3F-D780-4E56-99E0-B8BFF7E0A7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6A3589-8251-47C1-9943-7D32C531B7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7F62A-AE0F-4464-A893-9BE61F770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17263-7C67-4DE7-AE41-503EA13A1BB1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543C5D-18A1-4C8B-89AB-A4D575DF8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2AC1CF-5C53-4B1B-851B-81DE30C2F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496F2-512F-43AF-93D4-7601BF7F6F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041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63E50D-5CF0-488D-8B33-11D1ADCC6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63C0C0-E4BD-42A1-BA74-2A6B322C67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58AB81-0766-4078-BC1E-DE4807AD3A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A17263-7C67-4DE7-AE41-503EA13A1BB1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ADD7C0-46D5-40FB-8C68-08CE17A328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7EA4F4-918E-4482-AA4C-579B80267D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6496F2-512F-43AF-93D4-7601BF7F6F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861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92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40458E-C527-4039-AEB3-7EBD3159B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b="1" dirty="0">
                <a:latin typeface="Algerian" panose="04020705040A02060702" pitchFamily="82" charset="0"/>
                <a:cs typeface="Times New Roman" panose="02020603050405020304" pitchFamily="18" charset="0"/>
              </a:rPr>
              <a:t>STUDENT DROPOUT PREDICTIVE MODEL</a:t>
            </a:r>
            <a:b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3E4D77A-6050-4846-A874-7492D5ACC31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1268229"/>
            <a:ext cx="4437185" cy="5466129"/>
          </a:xfr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977C2CC-2AC5-4133-83CF-A7968DF500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33292" y="1268230"/>
            <a:ext cx="5820508" cy="5466128"/>
          </a:xfrm>
        </p:spPr>
        <p:txBody>
          <a:bodyPr/>
          <a:lstStyle/>
          <a:p>
            <a:pPr marL="0" indent="0" algn="ctr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Machine Learning Approach to Understanding and Predicting Student Attrition in Kenyan Universities</a:t>
            </a:r>
          </a:p>
          <a:p>
            <a:pPr marL="0" indent="0">
              <a:buNone/>
            </a:pPr>
            <a:r>
              <a:rPr lang="en-US" sz="3200" b="1" dirty="0"/>
              <a:t>Presented By: Group 8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Geoffrey </a:t>
            </a:r>
            <a:r>
              <a:rPr lang="en-US" sz="3200" dirty="0" err="1"/>
              <a:t>Kemboi</a:t>
            </a:r>
            <a:endParaRPr lang="en-US" sz="3200" dirty="0"/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Natasha Wangari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Antony Wala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Elvis Okeyo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96173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1000"/>
            <a:lum/>
          </a:blip>
          <a:srcRect/>
          <a:stretch>
            <a:fillRect l="-24000" r="-2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24ED6-9BDE-4AE7-A167-CE2EAF675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Agenda</a:t>
            </a:r>
            <a:br>
              <a:rPr lang="en-US" b="1" dirty="0"/>
            </a:br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A41E18CD-318C-40AD-B916-BEFF5D9D211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200024"/>
            <a:ext cx="9900139" cy="44579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Project Background &amp; Problem Statement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Overview &amp; Processing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(EDA)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Hypothesis Testing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Predictive Modelling Approach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 &amp; Evaluation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Findings &amp; Actionable Recommendations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Next Steps</a:t>
            </a:r>
          </a:p>
        </p:txBody>
      </p:sp>
    </p:spTree>
    <p:extLst>
      <p:ext uri="{BB962C8B-B14F-4D97-AF65-F5344CB8AC3E}">
        <p14:creationId xmlns:p14="http://schemas.microsoft.com/office/powerpoint/2010/main" val="17108684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1000"/>
            <a:lum/>
          </a:blip>
          <a:srcRect/>
          <a:stretch>
            <a:fillRect l="-24000" r="-2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73690-1125-4CCC-9911-06A497652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41207"/>
            <a:ext cx="10515600" cy="75216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Problem: Student Dropout in Kenya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C7F2B1B-0888-43C6-92B2-3D7A4AFE073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57908" y="2201280"/>
            <a:ext cx="11347938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Challenge: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Student dropout from higher education is a critical issue in Kenya, leading to: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Wasted educational resources for institutions.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reduction in the skilled workforce.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Increased unemployment and lower lifetime earnings for individuals.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Goal: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understand the complex, multi-faceted factors (academic, financial, demographic) that contribute to this phenomenon and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build a predictive model to identify at-risk students early.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08493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1000"/>
            <a:lum/>
          </a:blip>
          <a:srcRect/>
          <a:stretch>
            <a:fillRect l="-24000" r="-2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FA3FF-831E-429C-B6F9-DF02456FC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Research Questions: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34EFC19-73D1-4470-83CC-E19224815F8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9600" y="1874728"/>
            <a:ext cx="10744200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14350" marR="0" lvl="0" indent="-5143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 is the primary driver of dropout: academic preparedness, current performance, or financial constraints?</a:t>
            </a:r>
          </a:p>
          <a:p>
            <a:pPr marL="514350" marR="0" lvl="0" indent="-5143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How do financial factors interact with academic factors to influence dropout risk?</a:t>
            </a:r>
          </a:p>
          <a:p>
            <a:pPr marL="514350" marR="0" lvl="0" indent="-5143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Does the impact vary significantly by demographics,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programme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of study, or engagement levels?</a:t>
            </a:r>
          </a:p>
          <a:p>
            <a:pPr marL="514350" marR="0" lvl="0" indent="-5143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 a predictive model accurately identify high-risk students?</a:t>
            </a:r>
          </a:p>
        </p:txBody>
      </p:sp>
    </p:spTree>
    <p:extLst>
      <p:ext uri="{BB962C8B-B14F-4D97-AF65-F5344CB8AC3E}">
        <p14:creationId xmlns:p14="http://schemas.microsoft.com/office/powerpoint/2010/main" val="16363486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1000"/>
            <a:lum/>
          </a:blip>
          <a:srcRect/>
          <a:stretch>
            <a:fillRect l="-24000" r="-2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6F862-05FC-4681-975A-A784DEB2B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Overview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074FF3C-6A99-4F15-B1DF-C5F4A1EDD5B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1" y="1662192"/>
            <a:ext cx="10680032" cy="46782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Dataset: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Student-level records from Kenyan higher education institutions.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Size: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Over 118,000 students with 28 features.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L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Demographic: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Gender, Age, County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L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Academic: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Course Category, Exam Year, Admission details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L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Financial: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Program Cost, Total Loan Allocated, Scholarship Applied, Loan Status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L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Family Background: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Father educ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level, Mother educ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level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L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Target Variable: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Drop out (0 = Stayed, 1 = Dropped Out)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38412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1000"/>
            <a:lum/>
          </a:blip>
          <a:srcRect/>
          <a:stretch>
            <a:fillRect l="-24000" r="-2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FC243-D166-4311-8A32-402C78744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&amp; Feature Engineering: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A525944-7AD5-4A7A-BA8B-E1E87751A6E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245810"/>
            <a:ext cx="10298723" cy="4539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71500" marR="0" lvl="0" indent="-5715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L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Dropped irrelevant/unusable columns (e.g., BURSARYBATCHNUMBER, INDEXNUMBER).</a:t>
            </a:r>
          </a:p>
          <a:p>
            <a:pPr marL="571500" marR="0" lvl="0" indent="-5715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L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Removed rows with missing values in key columns.</a:t>
            </a:r>
          </a:p>
          <a:p>
            <a:pPr marL="571500" marR="0" lvl="0" indent="-5715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L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Created new features: Loan To Cost Ratio, Enrollment Age, Age Group.</a:t>
            </a:r>
          </a:p>
          <a:p>
            <a:pPr marL="571500" marR="0" lvl="0" indent="-5715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L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Focused final analysis on students enrolled in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2024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resulting in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39,166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records with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dropout rate of ~30.15%.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38033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1000"/>
            <a:lum/>
          </a:blip>
          <a:srcRect/>
          <a:stretch>
            <a:fillRect l="-24000" r="-2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D84ED-A129-46F0-B718-CA0A64523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 - Dropout by County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FE34083-04AC-4A65-93FE-06E8D2319F6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213594" y="1690689"/>
            <a:ext cx="5806206" cy="4486274"/>
          </a:xfr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37622F5-3607-4351-92D1-271B5F68D11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3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Insights:</a:t>
            </a:r>
            <a:endParaRPr lang="en-US" sz="30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Dropout Rates: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Counties like 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Mandera (42.9%)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Wajir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(39.3%)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3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Marsabit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(37.8%)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 the highest attrition.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Regional Disparities: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clear geographical pattern exists, with many counties in the northern and eastern regions showing above-average dropout rates.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 Average: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national average dropout rate is approximately 30.2%.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08537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1000"/>
            <a:lum/>
          </a:blip>
          <a:srcRect/>
          <a:stretch>
            <a:fillRect l="-24000" r="-2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AE48E-DA06-442B-B7BF-952B01069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353800" cy="14605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 - Dropout by Academic &amp; Financial Factors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BD5B4F3-B608-4F3F-802E-3A78D000CBB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512678" y="1312985"/>
            <a:ext cx="5507122" cy="5179890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50F27A-AB86-413E-B504-C4849B6902F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800" b="1" i="0" u="sng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Younger students (18-21) show higher dropout rates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Non-traditional students (22+) show distinct patterns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Age distribution peaks at 19-21 years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76498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1000"/>
            <a:lum/>
          </a:blip>
          <a:srcRect/>
          <a:stretch>
            <a:fillRect l="-24000" r="-2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450AD-2C9C-4F4D-B423-BB9A2FA33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Dropout by Sponsorship &amp; University Type: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465AE74-5440-42E0-AE2C-1200130793F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70209" y="1690689"/>
            <a:ext cx="5849591" cy="4486274"/>
          </a:xfr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336F5D7B-626B-48D9-AB59-BD3D38955755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6172200" y="2016135"/>
            <a:ext cx="5181600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</a:t>
            </a:r>
            <a:endParaRPr kumimoji="0" lang="en-US" altLang="en-US" b="1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Self-sponsored students face a much lower loan-to-cost ratio, indicating a higher financial burden.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financial strain correlates with a higher dropout rate at private institutions compared to public ones.</a:t>
            </a:r>
          </a:p>
        </p:txBody>
      </p:sp>
    </p:spTree>
    <p:extLst>
      <p:ext uri="{BB962C8B-B14F-4D97-AF65-F5344CB8AC3E}">
        <p14:creationId xmlns:p14="http://schemas.microsoft.com/office/powerpoint/2010/main" val="33868001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1000"/>
            <a:lum/>
          </a:blip>
          <a:srcRect/>
          <a:stretch>
            <a:fillRect l="-24000" r="-2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59488-83A8-4E19-925E-43FD79C07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Loan Amount: Scholarship vs Non-Scholarship Applicants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231A49C-4E9F-4CCE-A2C5-7616425CB5C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586154" y="1690688"/>
            <a:ext cx="5433646" cy="4053620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3C8A90-FD7A-4F13-B5FC-308C620A1DF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Scholarship applicants receive higher median loan amounts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41339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1000"/>
            <a:lum/>
          </a:blip>
          <a:srcRect/>
          <a:stretch>
            <a:fillRect l="-24000" r="-2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51E9B-FF33-4C8D-A454-4BC7E9226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Loan Amount by Sponsorship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38EE0DB-C969-40EA-BA1A-33080D8271D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3"/>
          <a:srcRect l="65346" r="-1"/>
          <a:stretch/>
        </p:blipFill>
        <p:spPr>
          <a:xfrm>
            <a:off x="838200" y="1774764"/>
            <a:ext cx="5181600" cy="4453060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016ACC-1099-4EDB-BCA4-3A7C9FF119C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Self-sponsored students face a much lower loan-to-cost ratio, indicating a higher financial burden.</a:t>
            </a:r>
          </a:p>
        </p:txBody>
      </p:sp>
    </p:spTree>
    <p:extLst>
      <p:ext uri="{BB962C8B-B14F-4D97-AF65-F5344CB8AC3E}">
        <p14:creationId xmlns:p14="http://schemas.microsoft.com/office/powerpoint/2010/main" val="21350502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1000"/>
            <a:lum/>
          </a:blip>
          <a:srcRect/>
          <a:stretch>
            <a:fillRect l="-24000" r="-2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05F2469-E06F-494B-B2A5-879E75B9C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Hypothesis Testing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E10F2E-CC56-4C6D-B7E7-DBE7A97754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Scholarship Application vs. Dropout (Chi-square Test)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H₀: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 significant association.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Failed to reject H₀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Applying for a scholarship does not show a statistically significant link to dropout status.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7246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1000"/>
            <a:lum/>
          </a:blip>
          <a:srcRect/>
          <a:stretch>
            <a:fillRect l="-24000" r="-2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2ECCF-5AD4-4D48-817D-9F98B24A2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Loan Amount vs. Dropout (T-test)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EF65031-589C-4053-90A9-65B1AEBF342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378030"/>
            <a:ext cx="10228385" cy="32465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H₀: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No significant difference in loan amounts between those who stayed and those who dropped out.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Result: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Failed to reject H₀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Interpretation: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There is no significant difference in the average loan amount for students who dropped out versus those who stayed.</a:t>
            </a:r>
          </a:p>
        </p:txBody>
      </p:sp>
    </p:spTree>
    <p:extLst>
      <p:ext uri="{BB962C8B-B14F-4D97-AF65-F5344CB8AC3E}">
        <p14:creationId xmlns:p14="http://schemas.microsoft.com/office/powerpoint/2010/main" val="36130738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1000"/>
            <a:lum/>
          </a:blip>
          <a:srcRect/>
          <a:stretch>
            <a:fillRect l="-24000" r="-2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C9536-BB8B-49EE-8420-1E7F8F84D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Parental Education vs. Dropout (Chi-square Test)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339E4F2-72D4-46C6-8CE8-ED9A85EE93B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08185" y="2378031"/>
            <a:ext cx="10345615" cy="32465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H₀: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No significant association.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Result: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Failed to reject H₀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father's, mother's, and highest parental education.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Interpretation: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Parental education level alone is not a statistically significant predictor of dropout status in this model.</a:t>
            </a:r>
          </a:p>
        </p:txBody>
      </p:sp>
    </p:spTree>
    <p:extLst>
      <p:ext uri="{BB962C8B-B14F-4D97-AF65-F5344CB8AC3E}">
        <p14:creationId xmlns:p14="http://schemas.microsoft.com/office/powerpoint/2010/main" val="14332591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1000"/>
            <a:lum/>
          </a:blip>
          <a:srcRect/>
          <a:stretch>
            <a:fillRect l="-24000" r="-2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4D4B0-84CA-4BDF-9EDB-57B3D1CCD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Predictive Modelling Approach</a:t>
            </a:r>
            <a:br>
              <a:rPr lang="en-US" b="1" dirty="0"/>
            </a:b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FFAE767-D5E6-4361-86C5-2486F921D7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56492" y="1554471"/>
            <a:ext cx="10697308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Target: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Drop_out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(imbalanced, 69.85% Stayed vs. 30.15% Dropped).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Label Encoding for categorical features.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Standard Scaling for Logistic Regression.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Models Tested: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(Baseline)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(Tuned)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(Tuned)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Balanced Random Forest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(Specifically designed for imbalanced data)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Gradient Boosting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(Baseline)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Stacking Ensemble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(Combination of base models)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 Imbalance Handling: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Used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class_weight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='balanced' t during model training to give more importance to the minority (dropout) class.</a:t>
            </a:r>
          </a:p>
        </p:txBody>
      </p:sp>
    </p:spTree>
    <p:extLst>
      <p:ext uri="{BB962C8B-B14F-4D97-AF65-F5344CB8AC3E}">
        <p14:creationId xmlns:p14="http://schemas.microsoft.com/office/powerpoint/2010/main" val="1032001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1000"/>
            <a:lum/>
          </a:blip>
          <a:srcRect/>
          <a:stretch>
            <a:fillRect l="-24000" r="-2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68F61-0D8C-41F5-8D23-9E444A14B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 Comparison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18D984F-AD0F-4264-A257-D658F360F7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87569" y="1875692"/>
            <a:ext cx="11851133" cy="4173416"/>
          </a:xfrm>
        </p:spPr>
      </p:pic>
    </p:spTree>
    <p:extLst>
      <p:ext uri="{BB962C8B-B14F-4D97-AF65-F5344CB8AC3E}">
        <p14:creationId xmlns:p14="http://schemas.microsoft.com/office/powerpoint/2010/main" val="41056026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1000"/>
            <a:lum/>
          </a:blip>
          <a:srcRect/>
          <a:stretch>
            <a:fillRect l="-24000" r="-2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DBA2800-5560-4A44-8C8D-F48A114B47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508" y="0"/>
            <a:ext cx="102326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6169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1000"/>
            <a:lum/>
          </a:blip>
          <a:srcRect/>
          <a:stretch>
            <a:fillRect l="-24000" r="-2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D51E0-9B16-4F6A-A50A-3853FD0DC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Model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49A56F4-5640-4229-99DA-F36508B729D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1" y="2378029"/>
            <a:ext cx="10515600" cy="32465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(Tuned)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 achieved the highest recall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0" i="0" dirty="0">
                <a:effectLst/>
                <a:latin typeface="Consolas" panose="020B0609020204030204" pitchFamily="49" charset="0"/>
              </a:rPr>
              <a:t>0.5373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making it the most effective at identifying students who eventually dropped out.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the best-performing model for this prediction task.</a:t>
            </a:r>
          </a:p>
        </p:txBody>
      </p:sp>
    </p:spTree>
    <p:extLst>
      <p:ext uri="{BB962C8B-B14F-4D97-AF65-F5344CB8AC3E}">
        <p14:creationId xmlns:p14="http://schemas.microsoft.com/office/powerpoint/2010/main" val="13748089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1000"/>
            <a:lum/>
          </a:blip>
          <a:srcRect/>
          <a:stretch>
            <a:fillRect l="-24000" r="-2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924E206-5483-4EF4-BAC9-0AFBCB14E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Importance (Top Drivers of Dropout)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3CE0848-A625-47EE-8FFF-398058BEDD3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838200" y="1825625"/>
            <a:ext cx="5181600" cy="4667250"/>
          </a:xfr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A25E1A25-105F-4E62-8E55-75F53C0D744F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6172201" y="1800691"/>
            <a:ext cx="5181600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Top Drivers:</a:t>
            </a: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LoanToCostRatio: The most important feature. A higher ratio (less loan covering cost) is a strong risk factor.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Institutional Factors: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UniversityType and Sponsored are key predictors.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Academic &amp; Demographic: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CourseCategory, EnrollmentAge, and County also play significant roles.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Parental Education: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Highest_educ_level_encoded has moderate predictive power.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Interpretation: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Financial strain is the single most powerful predictor of dropout.</a:t>
            </a:r>
          </a:p>
        </p:txBody>
      </p:sp>
    </p:spTree>
    <p:extLst>
      <p:ext uri="{BB962C8B-B14F-4D97-AF65-F5344CB8AC3E}">
        <p14:creationId xmlns:p14="http://schemas.microsoft.com/office/powerpoint/2010/main" val="9940737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1000"/>
            <a:lum/>
          </a:blip>
          <a:srcRect/>
          <a:stretch>
            <a:fillRect l="-24000" r="-2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48D9091-E6E8-4385-A455-396066BC6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Actionable Recommendations: For Policymakers &amp; University Administrators: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CE0B8E73-0BD8-4E1C-8391-148DC060F98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492916"/>
            <a:ext cx="10322169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Enhance Financial Aid Programs:</a:t>
            </a: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Action: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Target students with a high LoanToCostRatio (those whose loans cover a smaller portion of their fees).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Why: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This is the strongest predictor of dropout. Provide supplementary bursaries, work-study opportunities, or emergency funds.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 Early Warning Systems:</a:t>
            </a: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Action: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Use the model in real-time to flag students with high-risk profiles (e.g., high LoanToCostRatio, specific CourseCategory, older EnrollmentAge).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Why: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Allows for proactive academic advising, financial counseling, and targeted support before the student disengages.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Regional &amp; Institutional Interventions:</a:t>
            </a: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Action: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Develop specific retention programs for high-risk counties (e.g., Mandera, Wajir) and for students in self-sponsored or private university programs.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Why: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Dropout risk varies significantly by geography and institutional type. Customized strategies will be more effective.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38144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1000"/>
            <a:lum/>
          </a:blip>
          <a:srcRect/>
          <a:stretch>
            <a:fillRect l="-24000" r="-2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E3B7F-7281-49B1-9CE7-275E8E7DC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Recommended Next Steps: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0651451-E83C-4A87-9EDE-9A6DA697FEC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28245" y="1218321"/>
            <a:ext cx="11025555" cy="55659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Deploy the Model: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Integrate the model into a student information system for automated risk flagging.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 Enhancement: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Incorporate new data sources like real-time academic performance (grades, attendance) and student engagement metrics (library usage, online portal logins) to improve the model.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Pilot Intervention Programs: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Launch a pilot program based on the model's top risk factors (e.g., a targeted financial aid or academic coaching program) and measure its impact.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Continuous Monitoring: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Regularly retrain the model with new data to ensure its accuracy and relevance over time.</a:t>
            </a:r>
          </a:p>
        </p:txBody>
      </p:sp>
    </p:spTree>
    <p:extLst>
      <p:ext uri="{BB962C8B-B14F-4D97-AF65-F5344CB8AC3E}">
        <p14:creationId xmlns:p14="http://schemas.microsoft.com/office/powerpoint/2010/main" val="33401262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1000"/>
            <a:lum/>
          </a:blip>
          <a:srcRect/>
          <a:stretch>
            <a:fillRect l="-24000" r="-2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3480F-805A-4B30-B2D2-9F2ED995C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1C1FC-8315-41E3-AE74-45953C09E3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6000" dirty="0">
                <a:latin typeface="Algerian" panose="04020705040A02060702" pitchFamily="82" charset="0"/>
              </a:rPr>
              <a:t>THE END</a:t>
            </a:r>
          </a:p>
          <a:p>
            <a:pPr marL="0" indent="0" algn="ctr">
              <a:buNone/>
            </a:pPr>
            <a:r>
              <a:rPr lang="en-US" dirty="0">
                <a:latin typeface="Algerian" panose="04020705040A02060702" pitchFamily="82" charset="0"/>
              </a:rPr>
              <a:t>Thank you!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12988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1192</Words>
  <Application>Microsoft Office PowerPoint</Application>
  <PresentationFormat>Widescreen</PresentationFormat>
  <Paragraphs>113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Algerian</vt:lpstr>
      <vt:lpstr>Arial</vt:lpstr>
      <vt:lpstr>Calibri</vt:lpstr>
      <vt:lpstr>Calibri Light</vt:lpstr>
      <vt:lpstr>Consolas</vt:lpstr>
      <vt:lpstr>Times New Roman</vt:lpstr>
      <vt:lpstr>Office Theme</vt:lpstr>
      <vt:lpstr>STUDENT DROPOUT PREDICTIVE MODEL </vt:lpstr>
      <vt:lpstr>Agenda </vt:lpstr>
      <vt:lpstr>The Problem: Student Dropout in Kenya </vt:lpstr>
      <vt:lpstr>Key Research Questions:</vt:lpstr>
      <vt:lpstr>Data Overview </vt:lpstr>
      <vt:lpstr>Data Cleaning &amp; Feature Engineering:</vt:lpstr>
      <vt:lpstr>EDA - Dropout by County </vt:lpstr>
      <vt:lpstr>EDA - Dropout by Academic &amp; Financial Factors </vt:lpstr>
      <vt:lpstr>Dropout by Sponsorship &amp; University Type:</vt:lpstr>
      <vt:lpstr>Loan Amount: Scholarship vs Non-Scholarship Applicants</vt:lpstr>
      <vt:lpstr>Loan Amount by Sponsorship</vt:lpstr>
      <vt:lpstr>Hypothesis Testing </vt:lpstr>
      <vt:lpstr>2. Loan Amount vs. Dropout (T-test)</vt:lpstr>
      <vt:lpstr>3. Parental Education vs. Dropout (Chi-square Test)</vt:lpstr>
      <vt:lpstr>Predictive Modelling Approach </vt:lpstr>
      <vt:lpstr>Model Performance Comparison</vt:lpstr>
      <vt:lpstr>PowerPoint Presentation</vt:lpstr>
      <vt:lpstr>Best Model</vt:lpstr>
      <vt:lpstr>Feature Importance (Top Drivers of Dropout) </vt:lpstr>
      <vt:lpstr>Actionable Recommendations: For Policymakers &amp; University Administrators: </vt:lpstr>
      <vt:lpstr>Recommended Next Steps: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Title: Analysis of Student Dropout Determinants in Kenyan Higher Education</dc:title>
  <dc:creator>Elvis Okeyo</dc:creator>
  <cp:lastModifiedBy>Elvis Okeyo</cp:lastModifiedBy>
  <cp:revision>11</cp:revision>
  <dcterms:created xsi:type="dcterms:W3CDTF">2026-04-30T18:14:21Z</dcterms:created>
  <dcterms:modified xsi:type="dcterms:W3CDTF">2026-04-30T19:43:54Z</dcterms:modified>
</cp:coreProperties>
</file>